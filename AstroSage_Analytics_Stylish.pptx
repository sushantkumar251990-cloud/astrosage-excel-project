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3A5A764-D679-4D64-8961-D50D31DF6AB9}" v="206" dt="2026-06-17T10:45:21.96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2913063" y="0"/>
            <a:ext cx="222885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68B6176-8FBC-4858-8554-7C746354A443}" type="datetimeFigureOut">
              <a:t>6/17/2026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-17145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514350" y="4400550"/>
            <a:ext cx="41148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2913063" y="8685213"/>
            <a:ext cx="222885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81E81DD-A2EB-421A-B8ED-32146621FECE}" type="slidenum"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1494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6213E">
              <a:alpha val="7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97042" y="-457200"/>
            <a:ext cx="1714500" cy="1744579"/>
          </a:xfrm>
          <a:prstGeom prst="ellipse">
            <a:avLst/>
          </a:prstGeom>
          <a:solidFill>
            <a:srgbClr val="D4AF37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772400" y="3657600"/>
            <a:ext cx="1828800" cy="1828800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972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48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ASTROSAGE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457200" y="1737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600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Center Operations</a:t>
            </a:r>
            <a:endParaRPr lang="en-US" sz="3600" dirty="0"/>
          </a:p>
        </p:txBody>
      </p:sp>
      <p:sp>
        <p:nvSpPr>
          <p:cNvPr id="7" name="Shape 5"/>
          <p:cNvSpPr/>
          <p:nvPr/>
        </p:nvSpPr>
        <p:spPr>
          <a:xfrm>
            <a:off x="3200400" y="2377440"/>
            <a:ext cx="2743200" cy="4572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Report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57200" y="365760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DEC 2023 – JAN 2024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SUSHANT KUMAR</a:t>
            </a:r>
            <a:endParaRPr lang="en-US" sz="1400" dirty="0"/>
          </a:p>
        </p:txBody>
      </p:sp>
      <p:pic>
        <p:nvPicPr>
          <p:cNvPr id="13" name="Picture 12" descr="/home/claude/images/image1.png">
            <a:extLst>
              <a:ext uri="{FF2B5EF4-FFF2-40B4-BE49-F238E27FC236}">
                <a16:creationId xmlns:a16="http://schemas.microsoft.com/office/drawing/2014/main" id="{865CE330-601A-5FA8-2532-FE38B61BE01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-172" b="-305"/>
          <a:stretch>
            <a:fillRect/>
          </a:stretch>
        </p:blipFill>
        <p:spPr>
          <a:xfrm>
            <a:off x="3509" y="1375109"/>
            <a:ext cx="2108540" cy="131046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C823178C-94E8-6472-3110-7A6A08D883D2}"/>
              </a:ext>
            </a:extLst>
          </p:cNvPr>
          <p:cNvSpPr txBox="1"/>
          <p:nvPr/>
        </p:nvSpPr>
        <p:spPr>
          <a:xfrm>
            <a:off x="6472189" y="4569422"/>
            <a:ext cx="2072946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>
                <a:solidFill>
                  <a:schemeClr val="bg1"/>
                </a:solidFill>
                <a:ea typeface="Calibri"/>
                <a:cs typeface="Calibri"/>
              </a:rPr>
              <a:t>05-06-2026</a:t>
            </a:r>
            <a:endParaRPr lang="en-US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Problem Statement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8F7FF"/>
          </a:solidFill>
          <a:ln w="25400">
            <a:solidFill>
              <a:srgbClr val="6B4FB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94360" y="1234440"/>
            <a:ext cx="182880" cy="182880"/>
          </a:xfrm>
          <a:prstGeom prst="ellipse">
            <a:avLst/>
          </a:prstGeom>
          <a:solidFill>
            <a:srgbClr val="6B4FBB"/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114300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Trigger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High website traffic generating massive volume of calls &amp; chats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201168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8F7FF"/>
          </a:solidFill>
          <a:ln w="25400">
            <a:solidFill>
              <a:srgbClr val="00D9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94360" y="2240280"/>
            <a:ext cx="182880" cy="182880"/>
          </a:xfrm>
          <a:prstGeom prst="ellipse">
            <a:avLst/>
          </a:prstGeom>
          <a:solidFill>
            <a:srgbClr val="00D9FF"/>
          </a:solidFill>
          <a:ln/>
        </p:spPr>
      </p:sp>
      <p:sp>
        <p:nvSpPr>
          <p:cNvPr id="9" name="Text 7"/>
          <p:cNvSpPr/>
          <p:nvPr/>
        </p:nvSpPr>
        <p:spPr>
          <a:xfrm>
            <a:off x="1005840" y="214884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Friction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bottlenecks leading to poor customer experiences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3017520"/>
            <a:ext cx="8229600" cy="914400"/>
          </a:xfrm>
          <a:prstGeom prst="roundRect">
            <a:avLst>
              <a:gd name="adj" fmla="val 10000"/>
            </a:avLst>
          </a:prstGeom>
          <a:solidFill>
            <a:srgbClr val="F8F7FF"/>
          </a:solidFill>
          <a:ln w="25400">
            <a:solidFill>
              <a:srgbClr val="F4D03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594360" y="3246120"/>
            <a:ext cx="182880" cy="182880"/>
          </a:xfrm>
          <a:prstGeom prst="ellipse">
            <a:avLst/>
          </a:prstGeom>
          <a:solidFill>
            <a:srgbClr val="F4D03F"/>
          </a:solidFill>
          <a:ln/>
        </p:spPr>
      </p:sp>
      <p:sp>
        <p:nvSpPr>
          <p:cNvPr id="12" name="Text 10"/>
          <p:cNvSpPr/>
          <p:nvPr/>
        </p:nvSpPr>
        <p:spPr>
          <a:xfrm>
            <a:off x="1005840" y="3154680"/>
            <a:ext cx="7589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4D03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Impact</a:t>
            </a:r>
            <a:endParaRPr lang="en-US" sz="1300" dirty="0"/>
          </a:p>
          <a:p>
            <a:pPr marL="0" indent="0">
              <a:buNone/>
            </a:pPr>
            <a:r>
              <a:rPr lang="en-US" sz="13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Failing to convert interactions into top-tier service—hurting revenue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6B4FBB">
              <a:alpha val="90000"/>
            </a:srgbClr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41605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Completion Rate: 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3383280" y="4160520"/>
            <a:ext cx="530352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>
              <a:buNone/>
            </a:pPr>
            <a:r>
              <a:rPr lang="en-US" sz="2400" b="1" dirty="0">
                <a:latin typeface="Arial"/>
                <a:ea typeface="Arial" pitchFamily="34" charset="-122"/>
                <a:cs typeface="Arial"/>
              </a:rPr>
              <a:t>Only 19.7%</a:t>
            </a:r>
            <a:endParaRPr lang="en-US" sz="2400" dirty="0">
              <a:latin typeface="Arial"/>
              <a:cs typeface="Arial"/>
            </a:endParaRPr>
          </a:p>
        </p:txBody>
      </p:sp>
      <p:sp>
        <p:nvSpPr>
          <p:cNvPr id="16" name="Text 1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8E8"/>
                </a:solidFill>
              </a:rPr>
              <a:t>6/15/2026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Objectives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640080" y="10515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4FBB"/>
                </a:solidFill>
              </a:rPr>
              <a:t>●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097280" y="100584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Completion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Only 19.7% sessions completed (5,535/28,027)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40080" y="17373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4FBB"/>
                </a:solidFill>
              </a:rPr>
              <a:t>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97280" y="169164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&gt; Chat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drive 78.7% of ₹2.14L total revenue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40080" y="24231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4FBB"/>
                </a:solidFill>
              </a:rPr>
              <a:t>●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097280" y="237744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Earner Risk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"Ruchi" dominates; over-reliance on few astrologers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" y="31089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4FBB"/>
                </a:solidFill>
              </a:rPr>
              <a:t>●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1097280" y="306324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Mid-Week Peaks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Wednesdays &amp; Fridays see highest traffic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40080" y="3794760"/>
            <a:ext cx="274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6B4FBB"/>
                </a:solidFill>
              </a:rPr>
              <a:t>●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1097280" y="3749040"/>
            <a:ext cx="758952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Poor Ratings</a:t>
            </a:r>
            <a:endParaRPr lang="en-US" sz="14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3.8/5, and 7,256 sessions left unrated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8E8"/>
                </a:solidFill>
              </a:rPr>
              <a:t>6/15/2026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Overview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1A0B2E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97280"/>
            <a:ext cx="786384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28,027 Sessions  •  19.7% Completion  •  ₹2.14L Revenue  •  Dec 2023 – Jan 2024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96596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6B4FBB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64008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6B4FB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SNAPSHOT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246888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(78.7%) dominate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60+ active astrologers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Avg rating: 3.8/5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Gurucool leads: 72.2%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Top earner: Ruchi (₹1,536)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663440" y="1965960"/>
            <a:ext cx="4023360" cy="2834640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2700">
            <a:solidFill>
              <a:srgbClr val="00D9FF"/>
            </a:solidFill>
            <a:prstDash val="solid"/>
          </a:ln>
          <a:effectLst>
            <a:outerShdw blurRad="101600" dist="25400" dir="27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4846320" y="2057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ANALYTICAL APPROACH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846320" y="2468880"/>
            <a:ext cx="3657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Analyzed 28K+ records by type, revenue, ratings &amp; trends. Segmented by platform &amp; day-of-week. Used charts to identify splits &amp; patterns. Focused on gaps &amp; dependencies.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8E8"/>
                </a:solidFill>
              </a:rPr>
              <a:t>6/15/2026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Sum of Amount by Call &amp; Chat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50392"/>
            <a:ext cx="2286000" cy="36576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6126480" cy="3566160"/>
          </a:xfrm>
          <a:prstGeom prst="roundRect">
            <a:avLst>
              <a:gd name="adj" fmla="val 3077"/>
            </a:avLst>
          </a:prstGeom>
          <a:solidFill>
            <a:srgbClr val="F8F7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0" y="960120"/>
            <a:ext cx="2103120" cy="3566160"/>
          </a:xfrm>
          <a:prstGeom prst="roundRect">
            <a:avLst>
              <a:gd name="adj" fmla="val 5217"/>
            </a:avLst>
          </a:prstGeom>
          <a:solidFill>
            <a:srgbClr val="1A0B2E"/>
          </a:solidFill>
          <a:ln/>
          <a:effectLst>
            <a:outerShdw blurRad="101600" dist="25400" dir="2700000" algn="bl" rotWithShape="0">
              <a:srgbClr val="6B4FBB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66560" y="1143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66560" y="1463040"/>
            <a:ext cx="1737360" cy="2743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0" y="1600200"/>
            <a:ext cx="173736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buFont typeface="Arial"/>
              <a:buChar char="•"/>
            </a:pPr>
            <a:r>
              <a:rPr lang="en-US" sz="1100" b="1" dirty="0">
                <a:solidFill>
                  <a:srgbClr val="FFFFFF"/>
                </a:solidFill>
                <a:ea typeface="+mn-lt"/>
                <a:cs typeface="+mn-lt"/>
              </a:rPr>
              <a:t>Call consultations generate the majority of revenue</a:t>
            </a:r>
            <a:r>
              <a:rPr lang="en-US" sz="1100" dirty="0">
                <a:solidFill>
                  <a:srgbClr val="FFFFFF"/>
                </a:solidFill>
                <a:ea typeface="+mn-lt"/>
                <a:cs typeface="+mn-lt"/>
              </a:rPr>
              <a:t> (₹168.5K), significantly outperforming other consultation types. 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Chat consultations contribute ₹45.5K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, representing a smaller share of total revenue.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Revenue is heavily dependent on Call consultations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, making it the key revenue-driving service. </a:t>
            </a:r>
            <a:endParaRPr lang="en-US"/>
          </a:p>
          <a:p>
            <a:pPr marL="0" indent="0">
              <a:buNone/>
            </a:pPr>
            <a:endParaRPr lang="en-US" sz="11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8E8"/>
                </a:solidFill>
              </a:rPr>
              <a:t>6/15/2026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3EAB672-0AEF-C0D1-E6FE-BF2A010C43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41" y="962528"/>
            <a:ext cx="5751594" cy="357939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>
                <a:solidFill>
                  <a:srgbClr val="1A0B2E"/>
                </a:solidFill>
                <a:latin typeface="Arial"/>
                <a:cs typeface="Arial"/>
              </a:rPr>
              <a:t>Website Distribution</a:t>
            </a:r>
            <a:endParaRPr lang="en-US" sz="2800"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850392"/>
            <a:ext cx="2286000" cy="36576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6126480" cy="3566160"/>
          </a:xfrm>
          <a:prstGeom prst="roundRect">
            <a:avLst>
              <a:gd name="adj" fmla="val 3077"/>
            </a:avLst>
          </a:prstGeom>
          <a:solidFill>
            <a:srgbClr val="F8F7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0" y="960120"/>
            <a:ext cx="2103120" cy="3566160"/>
          </a:xfrm>
          <a:prstGeom prst="roundRect">
            <a:avLst>
              <a:gd name="adj" fmla="val 5217"/>
            </a:avLst>
          </a:prstGeom>
          <a:solidFill>
            <a:srgbClr val="1A0B2E"/>
          </a:solidFill>
          <a:ln/>
          <a:effectLst>
            <a:outerShdw blurRad="101600" dist="25400" dir="2700000" algn="bl" rotWithShape="0">
              <a:srgbClr val="6B4FBB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66560" y="1143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66560" y="1463040"/>
            <a:ext cx="1737360" cy="2743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0" y="1600200"/>
            <a:ext cx="173736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Dashboard is the primary traffic source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, contributing </a:t>
            </a: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72.2%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 of total interactions.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App contributes 27.8%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 of total traffic, significantly lower than Dashboard.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User engagement is heavily concentrated on the Dashboard platform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, indicating it is the preferred access channel. </a:t>
            </a:r>
            <a:endParaRPr lang="en-US"/>
          </a:p>
          <a:p>
            <a:pPr marL="0" indent="0">
              <a:buNone/>
            </a:pPr>
            <a:endParaRPr lang="en-US" sz="11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8E8"/>
                </a:solidFill>
              </a:rPr>
              <a:t>6/15/2026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C9182C93-D32F-1D7A-4A28-B6F41F65E2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40" y="962526"/>
            <a:ext cx="5771648" cy="374984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and Chat Status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50392"/>
            <a:ext cx="2286000" cy="36576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6126480" cy="3566160"/>
          </a:xfrm>
          <a:prstGeom prst="roundRect">
            <a:avLst>
              <a:gd name="adj" fmla="val 3077"/>
            </a:avLst>
          </a:prstGeom>
          <a:solidFill>
            <a:srgbClr val="F8F7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0" y="960120"/>
            <a:ext cx="2103120" cy="3566160"/>
          </a:xfrm>
          <a:prstGeom prst="roundRect">
            <a:avLst>
              <a:gd name="adj" fmla="val 5217"/>
            </a:avLst>
          </a:prstGeom>
          <a:solidFill>
            <a:srgbClr val="1A0B2E"/>
          </a:solidFill>
          <a:ln/>
          <a:effectLst>
            <a:outerShdw blurRad="101600" dist="25400" dir="2700000" algn="bl" rotWithShape="0">
              <a:srgbClr val="6B4FBB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66560" y="1143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66560" y="1463040"/>
            <a:ext cx="1737360" cy="2743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0" y="1600200"/>
            <a:ext cx="173736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Grand Total contributes the largest share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 with 28,027 interactions.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Dashboard channel records strong engagement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 with 20,225 interactions.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App channel has the lowest contribution</a:t>
            </a:r>
            <a:r>
              <a:rPr lang="en-US" sz="11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with 7,800 interactions. </a:t>
            </a:r>
            <a:endParaRPr lang="en-US"/>
          </a:p>
          <a:p>
            <a:pPr marL="0" indent="0">
              <a:buNone/>
            </a:pPr>
            <a:endParaRPr lang="en-US" sz="11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8E8"/>
                </a:solidFill>
              </a:rPr>
              <a:t>6/15/2026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363B1E4-70CE-9E43-3B26-9740A4EA44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04" y="942473"/>
            <a:ext cx="5901989" cy="357939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 Distribution Over Hours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50392"/>
            <a:ext cx="2286000" cy="36576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6126480" cy="3566160"/>
          </a:xfrm>
          <a:prstGeom prst="roundRect">
            <a:avLst>
              <a:gd name="adj" fmla="val 3077"/>
            </a:avLst>
          </a:prstGeom>
          <a:solidFill>
            <a:srgbClr val="F8F7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0" y="960120"/>
            <a:ext cx="2103120" cy="3566160"/>
          </a:xfrm>
          <a:prstGeom prst="roundRect">
            <a:avLst>
              <a:gd name="adj" fmla="val 5217"/>
            </a:avLst>
          </a:prstGeom>
          <a:solidFill>
            <a:srgbClr val="1A0B2E"/>
          </a:solidFill>
          <a:ln/>
          <a:effectLst>
            <a:outerShdw blurRad="101600" dist="25400" dir="2700000" algn="bl" rotWithShape="0">
              <a:srgbClr val="6B4FBB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66560" y="1143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66560" y="1463040"/>
            <a:ext cx="1737360" cy="2743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0" y="1600200"/>
            <a:ext cx="173736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Peak call volume occurs in a single hour with 178 calls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, indicating the busiest period of the day.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Call activity is concentrated during specific hours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, while most hours experience relatively low volumes.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Significant fluctuations in hourly calls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 suggest varying customer demand throughout the day.</a:t>
            </a:r>
            <a:endParaRPr lang="en-US"/>
          </a:p>
          <a:p>
            <a:pPr marL="0" indent="0">
              <a:buNone/>
            </a:pPr>
            <a:endParaRPr lang="en-US" sz="11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8E8"/>
                </a:solidFill>
              </a:rPr>
              <a:t>6/15/2026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8A4CE909-FACF-93F7-96A5-7DFB63E0B5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2940" y="962528"/>
            <a:ext cx="5781674" cy="3579394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2800" b="1">
                <a:solidFill>
                  <a:srgbClr val="1A0B2E"/>
                </a:solidFill>
                <a:latin typeface="Arial"/>
                <a:cs typeface="Arial"/>
              </a:rPr>
              <a:t>Top 10 Guru Ratting</a:t>
            </a:r>
            <a:endParaRPr lang="en-US" sz="2800" b="1" dirty="0">
              <a:solidFill>
                <a:srgbClr val="1A0B2E"/>
              </a:solidFill>
              <a:latin typeface="Arial"/>
              <a:cs typeface="Arial"/>
            </a:endParaRPr>
          </a:p>
        </p:txBody>
      </p:sp>
      <p:sp>
        <p:nvSpPr>
          <p:cNvPr id="4" name="Shape 2"/>
          <p:cNvSpPr/>
          <p:nvPr/>
        </p:nvSpPr>
        <p:spPr>
          <a:xfrm>
            <a:off x="457200" y="850392"/>
            <a:ext cx="2286000" cy="36576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6126480" cy="3566160"/>
          </a:xfrm>
          <a:prstGeom prst="roundRect">
            <a:avLst>
              <a:gd name="adj" fmla="val 3077"/>
            </a:avLst>
          </a:prstGeom>
          <a:solidFill>
            <a:srgbClr val="F8F7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0" y="960120"/>
            <a:ext cx="2103120" cy="3566160"/>
          </a:xfrm>
          <a:prstGeom prst="roundRect">
            <a:avLst>
              <a:gd name="adj" fmla="val 5217"/>
            </a:avLst>
          </a:prstGeom>
          <a:solidFill>
            <a:srgbClr val="1A0B2E"/>
          </a:solidFill>
          <a:ln/>
          <a:effectLst>
            <a:outerShdw blurRad="101600" dist="25400" dir="2700000" algn="bl" rotWithShape="0">
              <a:srgbClr val="6B4FBB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66560" y="1143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66560" y="1463040"/>
            <a:ext cx="1737360" cy="2743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0" y="1600200"/>
            <a:ext cx="173736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Astro Krishna leads</a:t>
            </a:r>
            <a:r>
              <a:rPr lang="en-US" sz="1100" dirty="0">
                <a:solidFill>
                  <a:srgbClr val="FFFFFF"/>
                </a:solidFill>
                <a:ea typeface="+mn-lt"/>
                <a:cs typeface="+mn-lt"/>
              </a:rPr>
              <a:t> 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with the highest rating count (1,580).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Top 3 gurus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 (Krishna, Sakhi, Shalini) dominate user ratings. 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Astro Yogendra, Tarot Bee Riya, and Sonam S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 have the lowest rating counts among the top 10</a:t>
            </a:r>
            <a:endParaRPr lang="en-US"/>
          </a:p>
          <a:p>
            <a:pPr marL="0" indent="0">
              <a:buNone/>
            </a:pPr>
            <a:endParaRPr lang="en-US" sz="11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8E8"/>
                </a:solidFill>
              </a:rPr>
              <a:t>6/15/2026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DB4AF3-B507-DFFF-8F1C-AECD9BACBC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04" y="982579"/>
            <a:ext cx="5601199" cy="353929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Activity by Date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50392"/>
            <a:ext cx="2286000" cy="36576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6126480" cy="3566160"/>
          </a:xfrm>
          <a:prstGeom prst="roundRect">
            <a:avLst>
              <a:gd name="adj" fmla="val 3077"/>
            </a:avLst>
          </a:prstGeom>
          <a:solidFill>
            <a:srgbClr val="F8F7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0" y="960120"/>
            <a:ext cx="2103120" cy="3566160"/>
          </a:xfrm>
          <a:prstGeom prst="roundRect">
            <a:avLst>
              <a:gd name="adj" fmla="val 5217"/>
            </a:avLst>
          </a:prstGeom>
          <a:solidFill>
            <a:srgbClr val="1A0B2E"/>
          </a:solidFill>
          <a:ln/>
          <a:effectLst>
            <a:outerShdw blurRad="101600" dist="25400" dir="2700000" algn="bl" rotWithShape="0">
              <a:srgbClr val="6B4FBB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66560" y="1143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66560" y="1463040"/>
            <a:ext cx="1737360" cy="2743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0" y="1600200"/>
            <a:ext cx="173736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High Fluctuation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: Volumes vary from 138 to 1,098 calls.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Peak December 2023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: Highest activity over 1,000 calls.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Lowest May 1901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: Minimum at ~138 calls.</a:t>
            </a:r>
            <a:endParaRPr lang="en-US"/>
          </a:p>
          <a:p>
            <a:pPr marL="0" indent="0">
              <a:buNone/>
            </a:pPr>
            <a:endParaRPr lang="en-US" sz="11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8E8"/>
                </a:solidFill>
              </a:rPr>
              <a:t>6/15/2026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8C7EC1-0500-0E68-0E04-44E2622D66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03" y="962529"/>
            <a:ext cx="6002252" cy="357939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Wise User Distribution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50392"/>
            <a:ext cx="2286000" cy="36576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6126480" cy="3566160"/>
          </a:xfrm>
          <a:prstGeom prst="roundRect">
            <a:avLst>
              <a:gd name="adj" fmla="val 3077"/>
            </a:avLst>
          </a:prstGeom>
          <a:solidFill>
            <a:srgbClr val="F8F7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0" y="960120"/>
            <a:ext cx="2103120" cy="3566160"/>
          </a:xfrm>
          <a:prstGeom prst="roundRect">
            <a:avLst>
              <a:gd name="adj" fmla="val 5217"/>
            </a:avLst>
          </a:prstGeom>
          <a:solidFill>
            <a:srgbClr val="1A0B2E"/>
          </a:solidFill>
          <a:ln/>
          <a:effectLst>
            <a:outerShdw blurRad="101600" dist="25400" dir="2700000" algn="bl" rotWithShape="0">
              <a:srgbClr val="6B4FBB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66560" y="1143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66560" y="1463040"/>
            <a:ext cx="1737360" cy="2743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0" y="1600200"/>
            <a:ext cx="173736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Rating 0 Dominates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: 7,256 users with zero rating (majority).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Mid-Range Peak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: Ratings 2-3 have 4,329-4,407 users (second highest).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Higher Ratings Low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: Ratings 6-8 have lowest counts (~1,800 users each).</a:t>
            </a:r>
            <a:endParaRPr lang="en-US"/>
          </a:p>
          <a:p>
            <a:pPr marL="0" indent="0">
              <a:buNone/>
            </a:pPr>
            <a:endParaRPr lang="en-US" sz="11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8E8"/>
                </a:solidFill>
              </a:rPr>
              <a:t>6/15/2026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DAA1E332-E6D7-4DB8-C9A9-46C4322D96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05" y="962529"/>
            <a:ext cx="6132593" cy="373981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Rating Wise Guru Distribution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50392"/>
            <a:ext cx="2286000" cy="36576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6126480" cy="3566160"/>
          </a:xfrm>
          <a:prstGeom prst="roundRect">
            <a:avLst>
              <a:gd name="adj" fmla="val 3077"/>
            </a:avLst>
          </a:prstGeom>
          <a:solidFill>
            <a:srgbClr val="F8F7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0" y="960120"/>
            <a:ext cx="2103120" cy="3566160"/>
          </a:xfrm>
          <a:prstGeom prst="roundRect">
            <a:avLst>
              <a:gd name="adj" fmla="val 5217"/>
            </a:avLst>
          </a:prstGeom>
          <a:solidFill>
            <a:srgbClr val="1A0B2E"/>
          </a:solidFill>
          <a:ln/>
          <a:effectLst>
            <a:outerShdw blurRad="101600" dist="25400" dir="2700000" algn="bl" rotWithShape="0">
              <a:srgbClr val="6B4FBB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66560" y="1143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66560" y="1463040"/>
            <a:ext cx="1737360" cy="2743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0" y="1600200"/>
            <a:ext cx="173736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Rating 0 Highest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: 7,256 gurus with zero rating (dominant).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Ratings 2-3 Second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: 4,329-4,407 gurus concentrated here.</a:t>
            </a:r>
            <a:endParaRPr lang="en-US"/>
          </a:p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Blue Category Minimal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: Blue bars negligible across all ratings.</a:t>
            </a:r>
            <a:endParaRPr lang="en-US"/>
          </a:p>
          <a:p>
            <a:pPr marL="0" indent="0">
              <a:buNone/>
            </a:pPr>
            <a:endParaRPr lang="en-US" sz="11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8E8"/>
                </a:solidFill>
              </a:rPr>
              <a:t>6/15/2026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C02568C-C08A-0BFA-8A1A-55FCF17A5B9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03" y="962528"/>
            <a:ext cx="5982199" cy="3619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200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Website Distribution - Call/Chat Status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850392"/>
            <a:ext cx="2286000" cy="36576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5" name="Shape 3"/>
          <p:cNvSpPr/>
          <p:nvPr/>
        </p:nvSpPr>
        <p:spPr>
          <a:xfrm>
            <a:off x="365760" y="960120"/>
            <a:ext cx="6126480" cy="3566160"/>
          </a:xfrm>
          <a:prstGeom prst="roundRect">
            <a:avLst>
              <a:gd name="adj" fmla="val 3077"/>
            </a:avLst>
          </a:prstGeom>
          <a:solidFill>
            <a:srgbClr val="F8F7FF"/>
          </a:solidFill>
          <a:ln w="12700">
            <a:solidFill>
              <a:srgbClr val="E8E8E8"/>
            </a:solidFill>
            <a:prstDash val="solid"/>
          </a:ln>
          <a:effectLst>
            <a:outerShdw blurRad="127000" dist="38100" dir="27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Shape 4"/>
          <p:cNvSpPr/>
          <p:nvPr/>
        </p:nvSpPr>
        <p:spPr>
          <a:xfrm>
            <a:off x="6583680" y="960120"/>
            <a:ext cx="2103120" cy="3566160"/>
          </a:xfrm>
          <a:prstGeom prst="roundRect">
            <a:avLst>
              <a:gd name="adj" fmla="val 5217"/>
            </a:avLst>
          </a:prstGeom>
          <a:solidFill>
            <a:srgbClr val="1A0B2E"/>
          </a:solidFill>
          <a:ln/>
          <a:effectLst>
            <a:outerShdw blurRad="101600" dist="25400" dir="2700000" algn="bl" rotWithShape="0">
              <a:srgbClr val="6B4FBB">
                <a:alpha val="15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6766560" y="1143000"/>
            <a:ext cx="1737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INSIGHTS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6766560" y="1463040"/>
            <a:ext cx="1737360" cy="27432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10" name="Text 7"/>
          <p:cNvSpPr/>
          <p:nvPr/>
        </p:nvSpPr>
        <p:spPr>
          <a:xfrm>
            <a:off x="6766560" y="1600200"/>
            <a:ext cx="1737360" cy="27889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t"/>
          <a:lstStyle/>
          <a:p>
            <a:pPr marL="285750" indent="-285750">
              <a:buFont typeface="Arial"/>
              <a:buChar char="•"/>
            </a:pPr>
            <a:r>
              <a:rPr lang="en-US" sz="1100" b="1" dirty="0" err="1">
                <a:solidFill>
                  <a:srgbClr val="FFFFFF"/>
                </a:solidFill>
                <a:ea typeface="+mn-lt"/>
                <a:cs typeface="+mn-lt"/>
              </a:rPr>
              <a:t>Gurucool</a:t>
            </a:r>
            <a:r>
              <a:rPr lang="en-US" sz="1100" b="1" dirty="0">
                <a:solidFill>
                  <a:srgbClr val="FFFFFF"/>
                </a:solidFill>
                <a:ea typeface="+mn-lt"/>
                <a:cs typeface="+mn-lt"/>
              </a:rPr>
              <a:t> Dominates</a:t>
            </a:r>
            <a:r>
              <a:rPr lang="en-US" sz="1100" dirty="0">
                <a:solidFill>
                  <a:srgbClr val="FFFFFF"/>
                </a:solidFill>
                <a:ea typeface="+mn-lt"/>
                <a:cs typeface="+mn-lt"/>
              </a:rPr>
              <a:t>: </a:t>
            </a:r>
            <a:r>
              <a:rPr lang="en-US" sz="1100" dirty="0" err="1">
                <a:solidFill>
                  <a:srgbClr val="FFFFFF"/>
                </a:solidFill>
                <a:ea typeface="+mn-lt"/>
                <a:cs typeface="+mn-lt"/>
              </a:rPr>
              <a:t>chatStatus</a:t>
            </a:r>
            <a:r>
              <a:rPr lang="en-US" sz="1100" dirty="0">
                <a:solidFill>
                  <a:srgbClr val="FFFFFF"/>
                </a:solidFill>
                <a:ea typeface="+mn-lt"/>
                <a:cs typeface="+mn-lt"/>
              </a:rPr>
              <a:t> reaches ~19,000 (highest overall).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100" b="1" dirty="0">
                <a:solidFill>
                  <a:srgbClr val="FFFFFF"/>
                </a:solidFill>
                <a:ea typeface="+mn-lt"/>
                <a:cs typeface="+mn-lt"/>
              </a:rPr>
              <a:t>App High </a:t>
            </a:r>
            <a:r>
              <a:rPr lang="en-US" sz="1100" b="1" dirty="0" err="1">
                <a:solidFill>
                  <a:srgbClr val="FFFFFF"/>
                </a:solidFill>
                <a:ea typeface="+mn-lt"/>
                <a:cs typeface="+mn-lt"/>
              </a:rPr>
              <a:t>CallSid</a:t>
            </a:r>
            <a:r>
              <a:rPr lang="en-US" sz="1100" dirty="0">
                <a:solidFill>
                  <a:srgbClr val="FFFFFF"/>
                </a:solidFill>
                <a:ea typeface="+mn-lt"/>
                <a:cs typeface="+mn-lt"/>
              </a:rPr>
              <a:t>: 7,652 calls on app platform.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sz="1100" b="1">
                <a:solidFill>
                  <a:srgbClr val="FFFFFF"/>
                </a:solidFill>
                <a:ea typeface="+mn-lt"/>
                <a:cs typeface="+mn-lt"/>
              </a:rPr>
              <a:t>Dashboard Minimal</a:t>
            </a:r>
            <a:r>
              <a:rPr lang="en-US" sz="1100">
                <a:solidFill>
                  <a:srgbClr val="FFFFFF"/>
                </a:solidFill>
                <a:ea typeface="+mn-lt"/>
                <a:cs typeface="+mn-lt"/>
              </a:rPr>
              <a:t>: Lowest activity across both metrics.</a:t>
            </a:r>
            <a:endParaRPr lang="en-US"/>
          </a:p>
          <a:p>
            <a:pPr marL="0" indent="0">
              <a:buNone/>
            </a:pPr>
            <a:endParaRPr lang="en-US" sz="1100" dirty="0">
              <a:solidFill>
                <a:srgbClr val="FFFFFF"/>
              </a:solidFill>
              <a:latin typeface="Arial"/>
              <a:cs typeface="Arial"/>
            </a:endParaRPr>
          </a:p>
        </p:txBody>
      </p:sp>
      <p:sp>
        <p:nvSpPr>
          <p:cNvPr id="11" name="Text 8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8E8"/>
                </a:solidFill>
              </a:rPr>
              <a:t>6/15/2026</a:t>
            </a:r>
            <a:endParaRPr lang="en-US" sz="10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7E53F8A9-424A-A9AD-8DFC-0CAB4E68802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704" y="962527"/>
            <a:ext cx="6032330" cy="37197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896112"/>
            <a:ext cx="2286000" cy="36576"/>
          </a:xfrm>
          <a:prstGeom prst="rect">
            <a:avLst/>
          </a:prstGeom>
          <a:solidFill>
            <a:srgbClr val="6B4FBB"/>
          </a:solidFill>
          <a:ln/>
        </p:spPr>
      </p:sp>
      <p:sp>
        <p:nvSpPr>
          <p:cNvPr id="7" name="Text 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pPr marL="0" indent="0" algn="r">
              <a:buNone/>
            </a:pPr>
            <a:r>
              <a:rPr lang="en-US" sz="1000">
                <a:solidFill>
                  <a:srgbClr val="E8E8E8"/>
                </a:solidFill>
              </a:rPr>
              <a:t>6//26</a:t>
            </a:r>
            <a:endParaRPr lang="en-US" sz="1000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FB350E1-BE89-2C5F-6629-71FC24D9DA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3892" y="952501"/>
            <a:ext cx="6623243" cy="3940342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D4AF37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36576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Recommendations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457200" y="1051560"/>
            <a:ext cx="320040" cy="320040"/>
          </a:xfrm>
          <a:prstGeom prst="ellipse">
            <a:avLst/>
          </a:prstGeom>
          <a:solidFill>
            <a:srgbClr val="6B4FBB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0515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0515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Improve Astrologer Quality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Targeted training to boost ratings above 3.8/5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965960"/>
            <a:ext cx="320040" cy="320040"/>
          </a:xfrm>
          <a:prstGeom prst="ellipse">
            <a:avLst/>
          </a:prstGeom>
          <a:solidFill>
            <a:srgbClr val="6B4FBB"/>
          </a:solidFill>
          <a:ln/>
        </p:spPr>
      </p:sp>
      <p:sp>
        <p:nvSpPr>
          <p:cNvPr id="8" name="Text 6"/>
          <p:cNvSpPr/>
          <p:nvPr/>
        </p:nvSpPr>
        <p:spPr>
          <a:xfrm>
            <a:off x="457200" y="19659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1005840" y="19659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Boost Completion Rate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Better engagement strategies to improve from 19.7%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2880360"/>
            <a:ext cx="320040" cy="320040"/>
          </a:xfrm>
          <a:prstGeom prst="ellipse">
            <a:avLst/>
          </a:prstGeom>
          <a:solidFill>
            <a:srgbClr val="6B4FBB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28803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005840" y="28803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Enhance Peak Day Staffing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availability on Thursdays &amp; Fridays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3794760"/>
            <a:ext cx="320040" cy="320040"/>
          </a:xfrm>
          <a:prstGeom prst="ellipse">
            <a:avLst/>
          </a:prstGeom>
          <a:solidFill>
            <a:srgbClr val="6B4FBB"/>
          </a:solidFill>
          <a:ln/>
        </p:spPr>
      </p:sp>
      <p:sp>
        <p:nvSpPr>
          <p:cNvPr id="14" name="Text 12"/>
          <p:cNvSpPr/>
          <p:nvPr/>
        </p:nvSpPr>
        <p:spPr>
          <a:xfrm>
            <a:off x="457200" y="379476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1005840" y="379476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1A0B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Rating System</a:t>
            </a:r>
            <a:endParaRPr lang="en-US" sz="1300" dirty="0"/>
          </a:p>
          <a:p>
            <a:pPr marL="0" indent="0">
              <a:buNone/>
            </a:pPr>
            <a:r>
              <a:rPr lang="en-US" sz="1200" dirty="0">
                <a:solidFill>
                  <a:srgbClr val="2C2C2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Increase post-session prompts and incentivize feedback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8E8"/>
                </a:solidFill>
              </a:rPr>
              <a:t>6/15/2026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0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457200" y="-457200"/>
            <a:ext cx="1828800" cy="1828800"/>
          </a:xfrm>
          <a:prstGeom prst="ellipse">
            <a:avLst/>
          </a:prstGeom>
          <a:solidFill>
            <a:srgbClr val="6B4FBB">
              <a:alpha val="1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8046720" y="3840480"/>
            <a:ext cx="1645920" cy="1645920"/>
          </a:xfrm>
          <a:prstGeom prst="ellipse">
            <a:avLst/>
          </a:prstGeom>
          <a:solidFill>
            <a:srgbClr val="00D9FF">
              <a:alpha val="2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000" b="1" dirty="0">
                <a:solidFill>
                  <a:srgbClr val="D4AF3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457200" y="1097280"/>
            <a:ext cx="1828800" cy="45720"/>
          </a:xfrm>
          <a:prstGeom prst="rect">
            <a:avLst/>
          </a:prstGeom>
          <a:solidFill>
            <a:srgbClr val="00D9FF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7160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Performance: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2834640" y="137160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28,027 sessions with 19.7% completion—consistent growth across Dec 2023–Jan 2024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57200" y="21945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Driver: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834640" y="219456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Calls at 78.7% indicate critical need for capacity and astrologer investment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7200" y="301752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Operational Priority: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2834640" y="301752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Gurucool dominance (72.2%) &amp; Thursday–Friday peaks demand better scheduling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457200" y="384048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D9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Growth Focus: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2834640" y="3840480"/>
            <a:ext cx="5852160" cy="320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Low ratings (3.8/5) &amp; engagement gaps require quality training and feedback systems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29600" y="475488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dirty="0">
                <a:solidFill>
                  <a:srgbClr val="E8E8E8"/>
                </a:solidFill>
              </a:rPr>
              <a:t>6/15/2026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16</Slides>
  <Notes>16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AstroSage Call Center Analytics</dc:title>
  <dc:subject>PptxGenJS Presentation</dc:subject>
  <dc:creator>AstroSage</dc:creator>
  <cp:lastModifiedBy>AstroSage</cp:lastModifiedBy>
  <cp:revision>126</cp:revision>
  <dcterms:created xsi:type="dcterms:W3CDTF">2026-06-17T06:58:05Z</dcterms:created>
  <dcterms:modified xsi:type="dcterms:W3CDTF">2026-06-17T10:45:42Z</dcterms:modified>
</cp:coreProperties>
</file>